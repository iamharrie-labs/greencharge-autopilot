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5143500" cx="9144000"/>
  <p:notesSz cx="6858000" cy="9144000"/>
  <p:embeddedFontLst>
    <p:embeddedFont>
      <p:font typeface="Roboto"/>
      <p:regular r:id="rId10"/>
      <p:bold r:id="rId11"/>
      <p:italic r:id="rId12"/>
      <p:boldItalic r:id="rId13"/>
    </p:embeddedFont>
    <p:embeddedFont>
      <p:font typeface="Roboto Medium"/>
      <p:regular r:id="rId14"/>
      <p:bold r:id="rId15"/>
      <p:italic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18" roundtripDataSignature="AMtx7mjpBOD1wnFu5Ox5hv3wUcSwmDxwU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font" Target="fonts/Roboto-regular.fntdata"/><Relationship Id="rId11" Type="http://schemas.openxmlformats.org/officeDocument/2006/relationships/font" Target="fonts/Roboto-bold.fntdata"/><Relationship Id="rId12" Type="http://schemas.openxmlformats.org/officeDocument/2006/relationships/font" Target="fonts/Roboto-italic.fntdata"/><Relationship Id="rId13" Type="http://schemas.openxmlformats.org/officeDocument/2006/relationships/font" Target="fonts/Roboto-boldItalic.fntdata"/><Relationship Id="rId14" Type="http://schemas.openxmlformats.org/officeDocument/2006/relationships/font" Target="fonts/RobotoMedium-regular.fntdata"/><Relationship Id="rId15" Type="http://schemas.openxmlformats.org/officeDocument/2006/relationships/font" Target="fonts/RobotoMedium-bold.fntdata"/><Relationship Id="rId16" Type="http://schemas.openxmlformats.org/officeDocument/2006/relationships/font" Target="fonts/RobotoMedium-italic.fntdata"/><Relationship Id="rId17" Type="http://schemas.openxmlformats.org/officeDocument/2006/relationships/font" Target="fonts/RobotoMedium-boldItalic.fntdata"/><Relationship Id="rId18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h2296137532f5af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h2296137532f5af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h2296137532f5afa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h2296137532f5afa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Relationship Id="rId3" Type="http://schemas.openxmlformats.org/officeDocument/2006/relationships/image" Target="../media/image3.png"/><Relationship Id="rId4" Type="http://schemas.openxmlformats.org/officeDocument/2006/relationships/image" Target="../media/image8.png"/><Relationship Id="rId5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6.png"/><Relationship Id="rId4" Type="http://schemas.openxmlformats.org/officeDocument/2006/relationships/image" Target="../media/image3.png"/><Relationship Id="rId5" Type="http://schemas.openxmlformats.org/officeDocument/2006/relationships/image" Target="../media/image7.png"/><Relationship Id="rId6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9.png"/><Relationship Id="rId4" Type="http://schemas.openxmlformats.org/officeDocument/2006/relationships/image" Target="../media/image6.png"/><Relationship Id="rId5" Type="http://schemas.openxmlformats.org/officeDocument/2006/relationships/image" Target="../media/image3.png"/><Relationship Id="rId6" Type="http://schemas.openxmlformats.org/officeDocument/2006/relationships/image" Target="../media/image1.png"/><Relationship Id="rId7" Type="http://schemas.openxmlformats.org/officeDocument/2006/relationships/image" Target="../media/image7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Relationship Id="rId3" Type="http://schemas.openxmlformats.org/officeDocument/2006/relationships/image" Target="../media/image3.png"/><Relationship Id="rId4" Type="http://schemas.openxmlformats.org/officeDocument/2006/relationships/image" Target="../media/image8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15" y="0"/>
            <a:ext cx="9155849" cy="5151422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6"/>
          <p:cNvSpPr txBox="1"/>
          <p:nvPr>
            <p:ph type="title"/>
          </p:nvPr>
        </p:nvSpPr>
        <p:spPr>
          <a:xfrm>
            <a:off x="464100" y="3098125"/>
            <a:ext cx="69882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" name="Google Shape;12;p6"/>
          <p:cNvSpPr txBox="1"/>
          <p:nvPr>
            <p:ph idx="1" type="subTitle"/>
          </p:nvPr>
        </p:nvSpPr>
        <p:spPr>
          <a:xfrm>
            <a:off x="464100" y="3794075"/>
            <a:ext cx="75165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F7C14"/>
              </a:buClr>
              <a:buSzPts val="2500"/>
              <a:buFont typeface="Roboto Medium"/>
              <a:buNone/>
              <a:defRPr sz="2500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F7C14"/>
              </a:buClr>
              <a:buSzPts val="1400"/>
              <a:buNone/>
              <a:defRPr>
                <a:solidFill>
                  <a:srgbClr val="EF7C14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F7C14"/>
              </a:buClr>
              <a:buSzPts val="1400"/>
              <a:buNone/>
              <a:defRPr>
                <a:solidFill>
                  <a:srgbClr val="EF7C14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F7C14"/>
              </a:buClr>
              <a:buSzPts val="1400"/>
              <a:buNone/>
              <a:defRPr>
                <a:solidFill>
                  <a:srgbClr val="EF7C14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F7C14"/>
              </a:buClr>
              <a:buSzPts val="1400"/>
              <a:buNone/>
              <a:defRPr>
                <a:solidFill>
                  <a:srgbClr val="EF7C14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F7C14"/>
              </a:buClr>
              <a:buSzPts val="1400"/>
              <a:buNone/>
              <a:defRPr>
                <a:solidFill>
                  <a:srgbClr val="EF7C14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F7C14"/>
              </a:buClr>
              <a:buSzPts val="1400"/>
              <a:buNone/>
              <a:defRPr>
                <a:solidFill>
                  <a:srgbClr val="EF7C14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F7C14"/>
              </a:buClr>
              <a:buSzPts val="1400"/>
              <a:buNone/>
              <a:defRPr>
                <a:solidFill>
                  <a:srgbClr val="EF7C14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F7C14"/>
              </a:buClr>
              <a:buSzPts val="1400"/>
              <a:buNone/>
              <a:defRPr>
                <a:solidFill>
                  <a:srgbClr val="EF7C14"/>
                </a:solidFill>
              </a:defRPr>
            </a:lvl9pPr>
          </a:lstStyle>
          <a:p/>
        </p:txBody>
      </p:sp>
      <p:pic>
        <p:nvPicPr>
          <p:cNvPr id="13" name="Google Shape;13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57348" y="1505461"/>
            <a:ext cx="2272593" cy="18980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57348" y="187745"/>
            <a:ext cx="2063598" cy="129545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595858" y="4726170"/>
            <a:ext cx="1407814" cy="3128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b="1" i="0" sz="2400" u="none" cap="none" strike="noStrike">
                <a:solidFill>
                  <a:srgbClr val="25346A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b="1" sz="2400"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b="1" sz="2400"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b="1" sz="2400"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b="1" sz="2400"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b="1" sz="2400"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b="1" sz="2400"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b="1" sz="2400"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b="1" sz="24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8" name="Google Shape;18;p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  <a:defRPr sz="1400"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pic>
        <p:nvPicPr>
          <p:cNvPr id="19" name="Google Shape;19;p7"/>
          <p:cNvPicPr preferRelativeResize="0"/>
          <p:nvPr/>
        </p:nvPicPr>
        <p:blipFill rotWithShape="1">
          <a:blip r:embed="rId2">
            <a:alphaModFix/>
          </a:blip>
          <a:srcRect b="0" l="53583" r="0" t="0"/>
          <a:stretch/>
        </p:blipFill>
        <p:spPr>
          <a:xfrm>
            <a:off x="0" y="394226"/>
            <a:ext cx="311700" cy="67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20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4749797"/>
            <a:ext cx="9144000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7"/>
          <p:cNvSpPr txBox="1"/>
          <p:nvPr>
            <p:ph idx="12" type="sldNum"/>
          </p:nvPr>
        </p:nvSpPr>
        <p:spPr>
          <a:xfrm>
            <a:off x="8472458" y="4789959"/>
            <a:ext cx="548700" cy="316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2" name="Google Shape;22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905989" y="4827865"/>
            <a:ext cx="3332021" cy="27828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23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11700" y="4771154"/>
            <a:ext cx="584516" cy="34598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Google Shape;24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026412" y="4790989"/>
            <a:ext cx="1446045" cy="3213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8"/>
          <p:cNvPicPr preferRelativeResize="0"/>
          <p:nvPr/>
        </p:nvPicPr>
        <p:blipFill rotWithShape="1">
          <a:blip r:embed="rId2">
            <a:alphaModFix amt="11000"/>
          </a:blip>
          <a:srcRect b="0" l="0" r="0" t="0"/>
          <a:stretch/>
        </p:blipFill>
        <p:spPr>
          <a:xfrm rot="-5400000">
            <a:off x="2158615" y="-2137275"/>
            <a:ext cx="868970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8"/>
          <p:cNvPicPr preferRelativeResize="0"/>
          <p:nvPr/>
        </p:nvPicPr>
        <p:blipFill rotWithShape="1">
          <a:blip r:embed="rId2">
            <a:alphaModFix amt="11000"/>
          </a:blip>
          <a:srcRect b="4935" l="0" r="0" t="17694"/>
          <a:stretch/>
        </p:blipFill>
        <p:spPr>
          <a:xfrm rot="-5400000">
            <a:off x="6719951" y="-1555100"/>
            <a:ext cx="868950" cy="3979151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8"/>
          <p:cNvSpPr/>
          <p:nvPr/>
        </p:nvSpPr>
        <p:spPr>
          <a:xfrm rot="5400000">
            <a:off x="4113300" y="-4111500"/>
            <a:ext cx="917400" cy="9140400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rgbClr val="FFFFFF">
                  <a:alpha val="0"/>
                </a:srgbClr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p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346A"/>
              </a:buClr>
              <a:buSzPts val="2400"/>
              <a:buFont typeface="Roboto"/>
              <a:buNone/>
              <a:defRPr b="1" sz="2400">
                <a:solidFill>
                  <a:srgbClr val="25346A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b="1" sz="2400"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b="1" sz="2400"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b="1" sz="2400"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b="1" sz="2400"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b="1" sz="2400"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b="1" sz="2400"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b="1" sz="2400"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b="1" sz="24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pic>
        <p:nvPicPr>
          <p:cNvPr id="30" name="Google Shape;30;p8"/>
          <p:cNvPicPr preferRelativeResize="0"/>
          <p:nvPr/>
        </p:nvPicPr>
        <p:blipFill rotWithShape="1">
          <a:blip r:embed="rId3">
            <a:alphaModFix/>
          </a:blip>
          <a:srcRect b="0" l="53583" r="0" t="0"/>
          <a:stretch/>
        </p:blipFill>
        <p:spPr>
          <a:xfrm>
            <a:off x="0" y="394226"/>
            <a:ext cx="311700" cy="67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" name="Google Shape;31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4749797"/>
            <a:ext cx="9144000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8"/>
          <p:cNvSpPr txBox="1"/>
          <p:nvPr>
            <p:ph idx="12" type="sldNum"/>
          </p:nvPr>
        </p:nvSpPr>
        <p:spPr>
          <a:xfrm>
            <a:off x="8472458" y="4789959"/>
            <a:ext cx="548700" cy="316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3" name="Google Shape;33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905989" y="4827865"/>
            <a:ext cx="3332021" cy="278286"/>
          </a:xfrm>
          <a:prstGeom prst="rect">
            <a:avLst/>
          </a:prstGeom>
          <a:noFill/>
          <a:ln>
            <a:noFill/>
          </a:ln>
        </p:spPr>
      </p:pic>
      <p:pic>
        <p:nvPicPr>
          <p:cNvPr id="34" name="Google Shape;34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026412" y="4790989"/>
            <a:ext cx="1446045" cy="321343"/>
          </a:xfrm>
          <a:prstGeom prst="rect">
            <a:avLst/>
          </a:prstGeom>
          <a:noFill/>
          <a:ln>
            <a:noFill/>
          </a:ln>
        </p:spPr>
      </p:pic>
      <p:pic>
        <p:nvPicPr>
          <p:cNvPr id="35" name="Google Shape;35;p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11700" y="4771154"/>
            <a:ext cx="584516" cy="3459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_1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oogle Shape;37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15" y="0"/>
            <a:ext cx="9155849" cy="5151422"/>
          </a:xfrm>
          <a:prstGeom prst="rect">
            <a:avLst/>
          </a:prstGeom>
          <a:noFill/>
          <a:ln>
            <a:noFill/>
          </a:ln>
        </p:spPr>
      </p:pic>
      <p:pic>
        <p:nvPicPr>
          <p:cNvPr id="38" name="Google Shape;38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57348" y="1505461"/>
            <a:ext cx="2272593" cy="189804"/>
          </a:xfrm>
          <a:prstGeom prst="rect">
            <a:avLst/>
          </a:prstGeom>
          <a:noFill/>
          <a:ln>
            <a:noFill/>
          </a:ln>
        </p:spPr>
      </p:pic>
      <p:pic>
        <p:nvPicPr>
          <p:cNvPr id="39" name="Google Shape;39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57348" y="187745"/>
            <a:ext cx="2063598" cy="1295458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9"/>
          <p:cNvSpPr txBox="1"/>
          <p:nvPr>
            <p:ph type="title"/>
          </p:nvPr>
        </p:nvSpPr>
        <p:spPr>
          <a:xfrm>
            <a:off x="0" y="2220966"/>
            <a:ext cx="9142200" cy="1243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9725"/>
              </a:buClr>
              <a:buSzPts val="5000"/>
              <a:buNone/>
              <a:defRPr sz="5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9725"/>
              </a:buClr>
              <a:buSzPts val="2800"/>
              <a:buNone/>
              <a:defRPr>
                <a:solidFill>
                  <a:srgbClr val="F39725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9725"/>
              </a:buClr>
              <a:buSzPts val="2800"/>
              <a:buNone/>
              <a:defRPr>
                <a:solidFill>
                  <a:srgbClr val="F39725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9725"/>
              </a:buClr>
              <a:buSzPts val="2800"/>
              <a:buNone/>
              <a:defRPr>
                <a:solidFill>
                  <a:srgbClr val="F39725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9725"/>
              </a:buClr>
              <a:buSzPts val="2800"/>
              <a:buNone/>
              <a:defRPr>
                <a:solidFill>
                  <a:srgbClr val="F39725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9725"/>
              </a:buClr>
              <a:buSzPts val="2800"/>
              <a:buNone/>
              <a:defRPr>
                <a:solidFill>
                  <a:srgbClr val="F39725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9725"/>
              </a:buClr>
              <a:buSzPts val="2800"/>
              <a:buNone/>
              <a:defRPr>
                <a:solidFill>
                  <a:srgbClr val="F39725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9725"/>
              </a:buClr>
              <a:buSzPts val="2800"/>
              <a:buNone/>
              <a:defRPr>
                <a:solidFill>
                  <a:srgbClr val="F39725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9725"/>
              </a:buClr>
              <a:buSzPts val="2800"/>
              <a:buNone/>
              <a:defRPr>
                <a:solidFill>
                  <a:srgbClr val="F39725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b="1" i="0" sz="2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b="1" i="0" sz="2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b="1" i="0" sz="2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b="1" i="0" sz="2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b="1" i="0" sz="2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b="1" i="0" sz="2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b="1" i="0" sz="2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b="1" i="0" sz="2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b="1" i="0" sz="2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 b="0" i="0" sz="14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 b="0" i="0" sz="14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"/>
          <p:cNvSpPr txBox="1"/>
          <p:nvPr>
            <p:ph type="title"/>
          </p:nvPr>
        </p:nvSpPr>
        <p:spPr>
          <a:xfrm>
            <a:off x="464100" y="3098125"/>
            <a:ext cx="69882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</a:pPr>
            <a:r>
              <a:t>GreenCharge Autopilot</a:t>
            </a:r>
            <a:endParaRPr/>
          </a:p>
        </p:txBody>
      </p:sp>
      <p:sp>
        <p:nvSpPr>
          <p:cNvPr id="46" name="Google Shape;46;p1"/>
          <p:cNvSpPr txBox="1"/>
          <p:nvPr>
            <p:ph idx="1" type="subTitle"/>
          </p:nvPr>
        </p:nvSpPr>
        <p:spPr>
          <a:xfrm>
            <a:off x="464100" y="3794075"/>
            <a:ext cx="75165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-34290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F7C14"/>
              </a:buClr>
              <a:buSzPts val="2500"/>
              <a:buFont typeface="Roboto Medium"/>
              <a:buNone/>
            </a:pPr>
            <a:r>
              <a:rPr sz="1400"/>
              <a:t>ENACT policies that change the running app, and prove it</a:t>
            </a:r>
            <a:endParaRPr/>
          </a:p>
          <a:p>
            <a:pPr/>
            <a:r>
              <a:rPr sz="1400"/>
              <a:t>Challenge 3 (ENACT): Kubernetes Dynamic Adaptation  ·  Team: Harrie</a:t>
            </a:r>
          </a:p>
        </p:txBody>
      </p:sp>
      <p:pic>
        <p:nvPicPr>
          <p:cNvPr id="47" name="Picture 46" descr="word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100" y="2050000"/>
            <a:ext cx="4400000" cy="75428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</a:pPr>
            <a:r>
              <a:rPr lang="en"/>
              <a:t>GitHub repo</a:t>
            </a:r>
            <a:endParaRPr/>
          </a:p>
        </p:txBody>
      </p:sp>
      <p:sp>
        <p:nvSpPr>
          <p:cNvPr id="52" name="Google Shape;52;p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sz="1600"/>
              <a:t>GitHub repo: https://github.com/IamHarrie-Labs/greencharge-autopilot</a:t>
            </a:r>
            <a:endParaRPr/>
          </a:p>
          <a:p>
            <a:pPr/>
            <a:r>
              <a:rPr sz="1600"/>
              <a:t>Run it: make setup → make operator-fix → make deploy → make autopilot-ui</a:t>
            </a:r>
          </a:p>
          <a:p>
            <a:pPr/>
            <a:r>
              <a:rPr sz="1600"/>
              <a:t>What's in it</a:t>
            </a:r>
          </a:p>
          <a:p>
            <a:pPr lvl="1"/>
            <a:r>
              <a:rPr sz="1500"/>
              <a:t>greencharge/: GreenCharge + ENACT Application Controller (policy model, compliance) + Autopilot</a:t>
            </a:r>
          </a:p>
          <a:p>
            <a:pPr lvl="1"/>
            <a:r>
              <a:rPr sz="1500"/>
              <a:t>operator-fix/: patch to the ENACT policy operator (metrics auth, Hard-rule bug), with tests</a:t>
            </a:r>
          </a:p>
          <a:p>
            <a:pPr lvl="1"/>
            <a:r>
              <a:rPr sz="1500"/>
              <a:t>docs/evidence/: every adaptation recorded on the live cluster; dataspace transfer records</a:t>
            </a:r>
          </a:p>
          <a:p>
            <a:pPr lvl="1"/>
            <a:r>
              <a:rPr sz="1500"/>
              <a:t>Apache-2.0 · 13 Java + 4 Go tests</a:t>
            </a:r>
          </a:p>
        </p:txBody>
      </p:sp>
      <p:sp>
        <p:nvSpPr>
          <p:cNvPr id="53" name="Google Shape;53;p2"/>
          <p:cNvSpPr txBox="1"/>
          <p:nvPr>
            <p:ph idx="12" type="sldNum"/>
          </p:nvPr>
        </p:nvSpPr>
        <p:spPr>
          <a:xfrm>
            <a:off x="8472458" y="4789959"/>
            <a:ext cx="548700" cy="316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fontScale="92500" lnSpcReduction="10000"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8108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h2296137532f5afa_0_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</a:pPr>
            <a:r>
              <a:rPr lang="en"/>
              <a:t>Summary</a:t>
            </a:r>
            <a:endParaRPr/>
          </a:p>
        </p:txBody>
      </p:sp>
      <p:sp>
        <p:nvSpPr>
          <p:cNvPr id="59" name="Google Shape;59;h2296137532f5afa_0_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sz="1400"/>
              <a:t>ENACT says what a workload should look like: the Application Controller recommends scale_up / scale_down, the policy operator picks a node. Nothing then changes the running app, and in the hackathon cluster the operator could not decide at all (TDCME returned 401).</a:t>
            </a:r>
            <a:endParaRPr/>
          </a:p>
          <a:p>
            <a:pPr/>
            <a:r>
              <a:rPr sz="1400"/>
              <a:t>We closed the loop</a:t>
            </a:r>
          </a:p>
          <a:p>
            <a:pPr lvl="1"/>
            <a:r>
              <a:rPr sz="1300"/>
              <a:t>Fixed the ENACT operator: token auth, a Hard-rule bug that re-ranked nodes every 30 s, explained rejections</a:t>
            </a:r>
          </a:p>
          <a:p>
            <a:pPr lvl="1"/>
            <a:r>
              <a:rPr sz="1300"/>
              <a:t>GreenCharge Autopilot: detect → decide (ENACT AC + operator) → guard (Hard rules, cooldown) → apply → verify (rollout + health) → roll back</a:t>
            </a:r>
          </a:p>
          <a:p>
            <a:pPr lvl="1"/>
            <a:r>
              <a:rPr sz="1300"/>
              <a:t>Evidence timeline: what was measured, what ENACT decided, what changed, whether the app recovered</a:t>
            </a:r>
          </a:p>
          <a:p>
            <a:pPr lvl="1"/>
            <a:r>
              <a:rPr sz="1300"/>
              <a:t>ENACT SDK, scripted: Application Packaging (Helm chart), Application Policies (CRD-valid), Dataspaces (negotiation FINALIZED, transfer COMPLETED; relay download blocked)</a:t>
            </a:r>
          </a:p>
        </p:txBody>
      </p:sp>
      <p:sp>
        <p:nvSpPr>
          <p:cNvPr id="60" name="Google Shape;60;h2296137532f5afa_0_0"/>
          <p:cNvSpPr txBox="1"/>
          <p:nvPr>
            <p:ph idx="12" type="sldNum"/>
          </p:nvPr>
        </p:nvSpPr>
        <p:spPr>
          <a:xfrm>
            <a:off x="8472458" y="4789959"/>
            <a:ext cx="548700" cy="31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lnSpcReduction="20000"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1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h2296137532f5afa_0_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</a:pPr>
            <a:r>
              <a:rPr lang="en"/>
              <a:t>Highlights</a:t>
            </a:r>
            <a:endParaRPr/>
          </a:p>
        </p:txBody>
      </p:sp>
      <p:sp>
        <p:nvSpPr>
          <p:cNvPr id="66" name="Google Shape;66;h2296137532f5afa_0_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sz="1400"/>
              <a:t>Measured on the challenge's own 3-node kind cluster</a:t>
            </a:r>
            <a:endParaRPr/>
          </a:p>
          <a:p>
            <a:pPr lvl="1"/>
            <a:r>
              <a:rPr sz="1300"/>
              <a:t>Out-of-policy app (0.5 CPU, wrong node) → adapted and verified in 105 s</a:t>
            </a:r>
          </a:p>
          <a:p>
            <a:pPr lvl="1"/>
            <a:r>
              <a:rPr sz="1300"/>
              <a:t>Move to a node outside eu-west → rejected by the Hard rule, app untouched</a:t>
            </a:r>
          </a:p>
          <a:p>
            <a:pPr lvl="1"/>
            <a:r>
              <a:rPr sz="1300"/>
              <a:t>Change that cannot become healthy → rolled back in 100 s, reverting only its own fields</a:t>
            </a:r>
          </a:p>
          <a:p>
            <a:pPr lvl="1"/>
            <a:r>
              <a:rPr sz="1300"/>
              <a:t>Node leaves eu-west → operator re-decides, app moves; no flapping afterwards</a:t>
            </a:r>
          </a:p>
          <a:p>
            <a:pPr lvl="1"/>
            <a:r>
              <a:rPr sz="1300"/>
              <a:t>Edge-role policy → GreenCharge lands on enact-dev-worker, as the brief requires</a:t>
            </a:r>
          </a:p>
          <a:p>
            <a:pPr/>
            <a:r>
              <a:rPr sz="1400"/>
              <a:t>Running it for real found 3 bugs in our own design (rollback that overwrote Helm, wrong rollout test, rejected patch as HTTP 500): all fixed and tested</a:t>
            </a:r>
          </a:p>
          <a:p>
            <a:pPr lvl="1"/>
            <a:r>
              <a:rPr sz="1300"/>
              <a:t>ENACT SDK libraries drive packaging, policy validation and the dataspace flow: one command each</a:t>
            </a:r>
          </a:p>
        </p:txBody>
      </p:sp>
      <p:sp>
        <p:nvSpPr>
          <p:cNvPr id="67" name="Google Shape;67;h2296137532f5afa_0_6"/>
          <p:cNvSpPr txBox="1"/>
          <p:nvPr>
            <p:ph idx="12" type="sldNum"/>
          </p:nvPr>
        </p:nvSpPr>
        <p:spPr>
          <a:xfrm>
            <a:off x="8472458" y="4789959"/>
            <a:ext cx="548700" cy="31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lnSpcReduction="20000"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1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Anastasios Zafeiropoulos</dc:creator>
</cp:coreProperties>
</file>